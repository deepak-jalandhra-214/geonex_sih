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2011680"/>
          </a:xfrm>
          <a:prstGeom prst="roundRect">
            <a:avLst/>
          </a:prstGeom>
          <a:solidFill>
            <a:srgbClr val="152040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</a:defRPr>
            </a:pPr>
            <a:r>
              <a:t>AI-Powered Drone-Based Geospatial Mapping &amp; Change Detection System</a:t>
            </a:r>
          </a:p>
          <a:p>
            <a:pPr>
              <a:spcBef>
                <a:spcPts val="600"/>
              </a:spcBef>
              <a:defRPr sz="1300">
                <a:solidFill>
                  <a:srgbClr val="00E5FF"/>
                </a:solidFill>
              </a:defRPr>
            </a:pPr>
            <a:r>
              <a:t>Automated Urban Parcel Mapping &amp; Cadastral Feature Extraction from High-Resolution Aerial Imagery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2468880" cy="118872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A0AEC0"/>
                </a:solidFill>
              </a:defRPr>
            </a:pPr>
            <a:r>
              <a:t>PROBLEM STATEMENT ID</a:t>
            </a:r>
          </a:p>
          <a:p>
            <a:pPr>
              <a:spcBef>
                <a:spcPts val="400"/>
              </a:spcBef>
              <a:defRPr sz="1800" b="1">
                <a:solidFill>
                  <a:srgbClr val="00E5FF"/>
                </a:solidFill>
              </a:defRPr>
            </a:pPr>
            <a:r>
              <a:t>26012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3864" y="2834640"/>
            <a:ext cx="2468880" cy="118872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A0AEC0"/>
                </a:solidFill>
              </a:defRPr>
            </a:pPr>
            <a:r>
              <a:t>THEME</a:t>
            </a:r>
          </a:p>
          <a:p>
            <a:pPr>
              <a:spcBef>
                <a:spcPts val="400"/>
              </a:spcBef>
              <a:defRPr sz="1800" b="1">
                <a:solidFill>
                  <a:srgbClr val="10B981"/>
                </a:solidFill>
              </a:defRPr>
            </a:pPr>
            <a:r>
              <a:t>Smart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2834640"/>
            <a:ext cx="2468880" cy="118872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A0AEC0"/>
                </a:solidFill>
              </a:defRPr>
            </a:pPr>
            <a:r>
              <a:t>PS CATEGORY</a:t>
            </a:r>
          </a:p>
          <a:p>
            <a:pPr>
              <a:spcBef>
                <a:spcPts val="400"/>
              </a:spcBef>
              <a:defRPr sz="1800" b="1">
                <a:solidFill>
                  <a:srgbClr val="F59E0B"/>
                </a:solidFill>
              </a:defRPr>
            </a:pPr>
            <a:r>
              <a:t>Software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88552" y="2834640"/>
            <a:ext cx="2468880" cy="118872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A0AEC0"/>
                </a:solidFill>
              </a:defRPr>
            </a:pPr>
            <a:r>
              <a:t>TEAM NAME</a:t>
            </a:r>
          </a:p>
          <a:p>
            <a:pPr>
              <a:spcBef>
                <a:spcPts val="400"/>
              </a:spcBef>
              <a:defRPr sz="1800" b="1">
                <a:solidFill>
                  <a:srgbClr val="F97316"/>
                </a:solidFill>
              </a:defRPr>
            </a:pPr>
            <a:r>
              <a:t>GeoNex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52040"/>
          </a:solidFill>
          <a:ln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PROBLEM STATEMENT DETAILS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Title: AI-Based Automated Urban Parcel Mapping and Cadastral Feature Extraction System using Drone Imagery.</a:t>
            </a:r>
          </a:p>
          <a:p>
            <a:pPr>
              <a:spcBef>
                <a:spcPts val="800"/>
              </a:spcBef>
              <a:defRPr sz="1200">
                <a:solidFill>
                  <a:srgbClr val="A0AEC0"/>
                </a:solidFill>
              </a:defRPr>
            </a:pPr>
            <a:r>
              <a:t>Core Challenge: Conventional urban cadastral mapping relies on labor-intensive manual survey methods or full re-processing of aerial imagery for every update cycle. GeoNex solves this by combining UNet++ multi-class semantic segmentation with automated vectorization and incremental AI change detection.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E5FF"/>
                </a:solidFill>
              </a:defRPr>
            </a:pPr>
            <a:r>
              <a:t>SMART INDIA HACKATHON 2026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Problem &amp; Proposed 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54864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Team GeoNex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END-TO-END PIPELINE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68580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1. Drone Imagery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Raw GeoTIFF / ECW orthomosaics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120640" cy="68580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Pre-Processing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Tiling, normalization &amp; georeferencing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120640" cy="68580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3. AI Segmentation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UNet++ (Buildings, Roads, Water, Rooftops)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68580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4. GIS Vectorization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Raster masks → GeoJSON / Shapefiles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5120640" cy="68580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5. Master Spatial DB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Centralized PostGIS spatial repository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5120640" cy="685800"/>
          </a:xfrm>
          <a:prstGeom prst="roundRect">
            <a:avLst/>
          </a:prstGeom>
          <a:solidFill>
            <a:srgbClr val="1520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6. Incremental Update</a:t>
            </a:r>
          </a:p>
          <a:p>
            <a:pPr>
              <a:defRPr sz="1000">
                <a:solidFill>
                  <a:srgbClr val="A0AEC0"/>
                </a:solidFill>
              </a:defRPr>
            </a:pPr>
            <a:r>
              <a:t>Detect changes &amp; update only modified parcels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83080"/>
            <a:ext cx="5333695" cy="2286000"/>
          </a:xfrm>
          <a:prstGeom prst="roundRect">
            <a:avLst/>
          </a:prstGeom>
          <a:solidFill>
            <a:srgbClr val="152040"/>
          </a:solidFill>
          <a:ln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HOW IT ADDRESSES THE PROBLEM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 Automates extraction of geographic features from drone imagery.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 Reduces manual GIS digitizing effort by over 80%.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 Maintains a reusable master geospatial database.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 New surveys update only changed regions instead of reprocessing everything.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 Delivers GIS map-ready outputs instantly for urban planning.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206240"/>
            <a:ext cx="5333695" cy="2240280"/>
          </a:xfrm>
          <a:prstGeom prst="roundRect">
            <a:avLst/>
          </a:prstGeom>
          <a:solidFill>
            <a:srgbClr val="152040"/>
          </a:solidFill>
          <a:ln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INNOVATION &amp; KEY UNIQUENESS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 Incremental Geospatial Updating: Only recompute modified land parcels.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 AI-Based Change Detection: Pixel &amp; vector difference engine.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 Multi-Class Feature Extraction: Buildings + Roads + Water + Rooftop types.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 Confidence Validation: Human-in-the-loop validation for low-confidence AI masks.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 Interactive Web Dashboard: Real-time map overlay and spatial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E5FF"/>
                </a:solidFill>
              </a:defRPr>
            </a:pPr>
            <a:r>
              <a:t>SMART INDIA HACKATHON 2026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54864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Team GeoNex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664208" cy="201168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wrap="square"/>
          <a:lstStyle/>
          <a:p>
            <a:pPr algn="ctr">
              <a:defRPr sz="1050" b="1">
                <a:solidFill>
                  <a:srgbClr val="00E5FF"/>
                </a:solidFill>
              </a:defRPr>
            </a:pPr>
            <a:r>
              <a:t>1. Input Data (Drone Imagery)</a:t>
            </a:r>
          </a:p>
          <a:p>
            <a:pPr>
              <a:spcBef>
                <a:spcPts val="800"/>
              </a:spcBef>
              <a:defRPr sz="950">
                <a:solidFill>
                  <a:srgbClr val="A0AEC0"/>
                </a:solidFill>
              </a:defRPr>
            </a:pPr>
            <a:r>
              <a:t>• ECW / GeoTIFF (Raster)</a:t>
            </a:r>
            <a:br/>
            <a:r>
              <a:t>• Shapefiles (Vector)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1371600"/>
            <a:ext cx="1664208" cy="201168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wrap="square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2. Pre-processing</a:t>
            </a:r>
          </a:p>
          <a:p>
            <a:pPr>
              <a:spcBef>
                <a:spcPts val="800"/>
              </a:spcBef>
              <a:defRPr sz="950">
                <a:solidFill>
                  <a:srgbClr val="A0AEC0"/>
                </a:solidFill>
              </a:defRPr>
            </a:pPr>
            <a:r>
              <a:t>• Read &amp; Validate</a:t>
            </a:r>
            <a:br/>
            <a:r>
              <a:t>• Tiling &amp; Resize</a:t>
            </a:r>
            <a:br/>
            <a:r>
              <a:t>• Normalization (0–1)</a:t>
            </a:r>
            <a:br/>
            <a:r>
              <a:t>• Geo-referencing (GDAL)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371600"/>
            <a:ext cx="1664208" cy="201168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wrap="square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3. AI Model (UNet++)</a:t>
            </a:r>
          </a:p>
          <a:p>
            <a:pPr>
              <a:spcBef>
                <a:spcPts val="800"/>
              </a:spcBef>
              <a:defRPr sz="950">
                <a:solidFill>
                  <a:srgbClr val="A0AEC0"/>
                </a:solidFill>
              </a:defRPr>
            </a:pPr>
            <a:r>
              <a:t>• UNet++ Feature Extraction</a:t>
            </a:r>
            <a:br/>
            <a:r>
              <a:t>• Multi-Class Masks</a:t>
            </a:r>
            <a:br/>
            <a:r>
              <a:t>• Loss: Dice + CE | Adam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371600"/>
            <a:ext cx="1664208" cy="201168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wrap="square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4. Inference &amp; Feature Extract</a:t>
            </a:r>
          </a:p>
          <a:p>
            <a:pPr>
              <a:spcBef>
                <a:spcPts val="800"/>
              </a:spcBef>
              <a:defRPr sz="950">
                <a:solidFill>
                  <a:srgbClr val="A0AEC0"/>
                </a:solidFill>
              </a:defRPr>
            </a:pPr>
            <a:r>
              <a:t>• Trained Model Predicts</a:t>
            </a:r>
            <a:br/>
            <a:r>
              <a:t>• Noise Removal &amp; Morph Ops</a:t>
            </a:r>
            <a:br/>
            <a:r>
              <a:t>• Polygonization (Raster→Vector)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371600"/>
            <a:ext cx="1664208" cy="201168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wrap="square"/>
          <a:lstStyle/>
          <a:p>
            <a:pPr algn="ctr">
              <a:defRPr sz="1050" b="1">
                <a:solidFill>
                  <a:srgbClr val="F97316"/>
                </a:solidFill>
              </a:defRPr>
            </a:pPr>
            <a:r>
              <a:t>5. GIS Mapping (Web App)</a:t>
            </a:r>
          </a:p>
          <a:p>
            <a:pPr>
              <a:spcBef>
                <a:spcPts val="800"/>
              </a:spcBef>
              <a:defRPr sz="950">
                <a:solidFill>
                  <a:srgbClr val="A0AEC0"/>
                </a:solidFill>
              </a:defRPr>
            </a:pPr>
            <a:r>
              <a:t>• Interactive Map Overlays</a:t>
            </a:r>
            <a:br/>
            <a:r>
              <a:t>• Buildings, Roads, Water</a:t>
            </a:r>
            <a:br/>
            <a:r>
              <a:t>• GeoJSON / Shapefile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371600"/>
            <a:ext cx="1664208" cy="201168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wrap="square"/>
          <a:lstStyle/>
          <a:p>
            <a:pPr algn="ctr">
              <a:defRPr sz="1050" b="1">
                <a:solidFill>
                  <a:srgbClr val="8B5CF6"/>
                </a:solidFill>
              </a:defRPr>
            </a:pPr>
            <a:r>
              <a:t>6. Change Detection &amp; Update</a:t>
            </a:r>
          </a:p>
          <a:p>
            <a:pPr>
              <a:spcBef>
                <a:spcPts val="800"/>
              </a:spcBef>
              <a:defRPr sz="950">
                <a:solidFill>
                  <a:srgbClr val="A0AEC0"/>
                </a:solidFill>
              </a:defRPr>
            </a:pPr>
            <a:r>
              <a:t>• 2025 vs 2026 Comparison</a:t>
            </a:r>
            <a:br/>
            <a:r>
              <a:t>• New / Removed / Modified</a:t>
            </a:r>
            <a:br/>
            <a:r>
              <a:t>• Update Database (PostGIS)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SYSTEM ARCHITECTURE &amp; CLOUD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2542032" cy="2377440"/>
          </a:xfrm>
          <a:prstGeom prst="roundRect">
            <a:avLst/>
          </a:prstGeom>
          <a:solidFill>
            <a:srgbClr val="152040"/>
          </a:solidFill>
          <a:ln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Frontend (Web App)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Image Upload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Map Visualization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Results &amp; Layers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3977639"/>
            <a:ext cx="2542032" cy="2377440"/>
          </a:xfrm>
          <a:prstGeom prst="roundRect">
            <a:avLst/>
          </a:prstGeom>
          <a:solidFill>
            <a:srgbClr val="152040"/>
          </a:solidFill>
          <a:ln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Backend (FastAPI)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API Endpoints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Processing Pipeline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GeoJSON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977639"/>
            <a:ext cx="2542032" cy="2377440"/>
          </a:xfrm>
          <a:prstGeom prst="roundRect">
            <a:avLst/>
          </a:prstGeom>
          <a:solidFill>
            <a:srgbClr val="152040"/>
          </a:solidFill>
          <a:ln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Database (PostgreSQL + PostGIS)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Store Geospatial Data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Feature Attributes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Versioning (Surveys)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3977639"/>
            <a:ext cx="2542032" cy="2377440"/>
          </a:xfrm>
          <a:prstGeom prst="roundRect">
            <a:avLst/>
          </a:prstGeom>
          <a:solidFill>
            <a:srgbClr val="152040"/>
          </a:solidFill>
          <a:ln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Cloud (AWS - Optional)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S3 (Image &amp; Output Storage)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EC2 (GPU for Processing)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Scalable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E5FF"/>
                </a:solidFill>
              </a:defRPr>
            </a:pPr>
            <a:r>
              <a:t>SMART INDIA HACKATHON 2026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Feasibility, Viability &amp; Risk Mitigation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54864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Team GeoNex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55448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Technical Feasibility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Leverages established AI models (UNet++), GIS engines (GDAL/Rasterio), and standard cloud GPUs.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155448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Operational Viability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Initial survey establishes master parcel DB; subsequent surveys process incremental updates seamlessly.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155448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Scalability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Tiled image processing + Dockerized microservices enable scaling to state-wide satellite &amp; drone imagery.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3291840"/>
          </a:xfrm>
          <a:prstGeom prst="roundRect">
            <a:avLst/>
          </a:prstGeom>
          <a:solidFill>
            <a:srgbClr val="152040"/>
          </a:solidFill>
          <a:ln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TECHNICAL CHALLENGES &amp; PROPOSED SOLUTIONS MATRIX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F59E0B"/>
                </a:solidFill>
              </a:rPr>
              <a:t>•  Limited Training Data: </a:t>
            </a:r>
            <a:r>
              <a:rPr sz="1000">
                <a:solidFill>
                  <a:srgbClr val="FFFFFF"/>
                </a:solidFill>
              </a:rPr>
              <a:t>Data augmentation (flips, rotations, spectral shifts) + transfer learning from aerial datasets.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F59E0B"/>
                </a:solidFill>
              </a:rPr>
              <a:t>•  Building Segmentation Errors: </a:t>
            </a:r>
            <a:r>
              <a:rPr sz="1000">
                <a:solidFill>
                  <a:srgbClr val="FFFFFF"/>
                </a:solidFill>
              </a:rPr>
              <a:t>Improved UNet++ loss formulation (Dice + Focal Loss) + morphological boundary smoothing.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F59E0B"/>
                </a:solidFill>
              </a:rPr>
              <a:t>•  Water / Algae Confusion: </a:t>
            </a:r>
            <a:r>
              <a:rPr sz="1000">
                <a:solidFill>
                  <a:srgbClr val="FFFFFF"/>
                </a:solidFill>
              </a:rPr>
              <a:t>Hard-negative mining during training + multi-spectral NDWI band integration where available.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F59E0B"/>
                </a:solidFill>
              </a:rPr>
              <a:t>•  Image Misalignment &amp; Large Size: </a:t>
            </a:r>
            <a:r>
              <a:rPr sz="1000">
                <a:solidFill>
                  <a:srgbClr val="FFFFFF"/>
                </a:solidFill>
              </a:rPr>
              <a:t>Automated geospatial registration + adaptive overlapping tile processing.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F59E0B"/>
                </a:solidFill>
              </a:rPr>
              <a:t>•  Tile Boundary Artifacts: </a:t>
            </a:r>
            <a:r>
              <a:rPr sz="1000">
                <a:solidFill>
                  <a:srgbClr val="FFFFFF"/>
                </a:solidFill>
              </a:rPr>
              <a:t>Overlap-aware stitching with fuzzy boundary weight merging.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F59E0B"/>
                </a:solidFill>
              </a:rPr>
              <a:t>•  Reprocessing Entire Survey Area: </a:t>
            </a:r>
            <a:r>
              <a:rPr sz="1000">
                <a:solidFill>
                  <a:srgbClr val="FFFFFF"/>
                </a:solidFill>
              </a:rPr>
              <a:t>AI-based vector difference engine: recomputes ONLY changed land parcels (saving &gt;80% compute).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E5FF"/>
                </a:solidFill>
              </a:defRPr>
            </a:pPr>
            <a:r>
              <a:t>SMART INDIA HACKATHON 2026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Impact, Benefits &amp; Visual Process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54864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Team GeoNex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3931920"/>
          </a:xfrm>
          <a:prstGeom prst="roundRect">
            <a:avLst/>
          </a:prstGeom>
          <a:solidFill>
            <a:srgbClr val="152040"/>
          </a:solidFill>
          <a:ln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WORKFLOW COMPARISON (PARADIGM SHIFT)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4572000" cy="1371600"/>
          </a:xfrm>
          <a:prstGeom prst="roundRect">
            <a:avLst/>
          </a:prstGeom>
          <a:solidFill>
            <a:srgbClr val="28141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F87171"/>
                </a:solidFill>
              </a:defRPr>
            </a:pPr>
            <a:r>
              <a:t>TRADITIONAL METHOD (Inefficient)</a:t>
            </a:r>
          </a:p>
          <a:p>
            <a:pPr>
              <a:spcBef>
                <a:spcPts val="600"/>
              </a:spcBef>
              <a:defRPr sz="1000">
                <a:solidFill>
                  <a:srgbClr val="A0AEC0"/>
                </a:solidFill>
              </a:defRPr>
            </a:pPr>
            <a:r>
              <a:t>Full Area Image  ➔  Full AI Processing  ➔  Repeat Every Survey  ➔  High Compute &amp; Slow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474720"/>
            <a:ext cx="4572000" cy="1645920"/>
          </a:xfrm>
          <a:prstGeom prst="roundRect">
            <a:avLst/>
          </a:prstGeom>
          <a:solidFill>
            <a:srgbClr val="102D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GEONEX PROPOSED METHOD (Smart &amp; Fast)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Existing Cadastral Map + New Drone Survey</a:t>
            </a:r>
            <a:br/>
            <a:r>
              <a:t>   ↓</a:t>
            </a:r>
            <a:br/>
            <a:r>
              <a:t>AI Change Detection Engine</a:t>
            </a:r>
            <a:br/>
            <a:r>
              <a:t>   ↓</a:t>
            </a:r>
            <a:br/>
            <a:r>
              <a:t>Re-process CHANGED PARCELS ONLY  ➔ Instant Database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33695" cy="3931920"/>
          </a:xfrm>
          <a:prstGeom prst="roundRect">
            <a:avLst/>
          </a:prstGeom>
          <a:solidFill>
            <a:srgbClr val="152040"/>
          </a:solidFill>
          <a:ln>
            <a:solidFill>
              <a:srgbClr val="2D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KEY BENEFIT CATEGORIES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E5FF"/>
                </a:solidFill>
              </a:rPr>
              <a:t>•  Planning &amp; Cadastral: </a:t>
            </a:r>
            <a:r>
              <a:rPr sz="1000">
                <a:solidFill>
                  <a:srgbClr val="FFFFFF"/>
                </a:solidFill>
              </a:rPr>
              <a:t>Rapid building &amp; road extraction for urban growth monitoring.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•  Economic Efficiency: </a:t>
            </a:r>
            <a:r>
              <a:rPr sz="1000">
                <a:solidFill>
                  <a:srgbClr val="FFFFFF"/>
                </a:solidFill>
              </a:rPr>
              <a:t>Eliminates repetitive manual digitizing &amp; reduces compute costs by &gt;80%.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•  Environmental Monitoring: </a:t>
            </a:r>
            <a:r>
              <a:rPr sz="1000">
                <a:solidFill>
                  <a:srgbClr val="FFFFFF"/>
                </a:solidFill>
              </a:rPr>
              <a:t>Tracks water body encroachments, vegetation changes, and land-use shifts.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8B5CF6"/>
                </a:solidFill>
              </a:rPr>
              <a:t>•  Disaster Management: </a:t>
            </a:r>
            <a:r>
              <a:rPr sz="1000">
                <a:solidFill>
                  <a:srgbClr val="FFFFFF"/>
                </a:solidFill>
              </a:rPr>
              <a:t>Rapid post-disaster damage assessment and updated hazard maps.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500" b="1" i="1">
                <a:solidFill>
                  <a:srgbClr val="F59E0B"/>
                </a:solidFill>
              </a:defRPr>
            </a:pPr>
            <a:r>
              <a:t>“Build the map once, detect the changes later, and update only what has changed.”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E5FF"/>
                </a:solidFill>
              </a:defRPr>
            </a:pPr>
            <a:r>
              <a:t>SMART INDIA HACKATHON 2026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Research Areas &amp; Key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65760"/>
            <a:ext cx="1554480" cy="548640"/>
          </a:xfrm>
          <a:prstGeom prst="roundRect">
            <a:avLst/>
          </a:prstGeom>
          <a:solidFill>
            <a:srgbClr val="1520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Team GeoNex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5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PRIMARY REPOSITORY &amp; REFS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FFFFF"/>
                </a:solidFill>
              </a:rPr>
              <a:t>GitHub Repository
</a:t>
            </a:r>
            <a:r>
              <a:rPr sz="1000">
                <a:solidFill>
                  <a:srgbClr val="A0AEC0"/>
                </a:solidFill>
              </a:rPr>
              <a:t>https://github.com/Kabeer2004/ProjectVaayu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FFFFF"/>
                </a:solidFill>
              </a:rPr>
              <a:t>Drone Feature Extraction
</a:t>
            </a:r>
            <a:r>
              <a:rPr sz="1000">
                <a:solidFill>
                  <a:srgbClr val="A0AEC0"/>
                </a:solidFill>
              </a:rPr>
              <a:t>High-resolution UAV orthomosaic processing pipeline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FFFFF"/>
                </a:solidFill>
              </a:rPr>
              <a:t>UNet++ Segmentation
</a:t>
            </a:r>
            <a:r>
              <a:rPr sz="1000">
                <a:solidFill>
                  <a:srgbClr val="A0AEC0"/>
                </a:solidFill>
              </a:rPr>
              <a:t>Nested U-Net architecture for multi-class parcel extraction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FFFFF"/>
                </a:solidFill>
              </a:rPr>
              <a:t>GDAL / GIS Pipeline
</a:t>
            </a:r>
            <a:r>
              <a:rPr sz="1000">
                <a:solidFill>
                  <a:srgbClr val="A0AEC0"/>
                </a:solidFill>
              </a:rPr>
              <a:t>Rasterio &amp; GDAL spatial transformation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371600"/>
            <a:ext cx="3383280" cy="4846320"/>
          </a:xfrm>
          <a:prstGeom prst="roundRect">
            <a:avLst/>
          </a:prstGeom>
          <a:solidFill>
            <a:srgbClr val="15204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CORE RESEARCH DOMAINS</a:t>
            </a:r>
          </a:p>
          <a:p>
            <a:pPr>
              <a:spcBef>
                <a:spcPts val="1000"/>
              </a:spcBef>
              <a:defRPr sz="1000">
                <a:solidFill>
                  <a:srgbClr val="FFFFFF"/>
                </a:solidFill>
              </a:defRPr>
            </a:pPr>
            <a:r>
              <a:t>•  Semantic Segmentation in High-Res Remote Sensing</a:t>
            </a:r>
          </a:p>
          <a:p>
            <a:pPr>
              <a:spcBef>
                <a:spcPts val="1000"/>
              </a:spcBef>
              <a:defRPr sz="1000">
                <a:solidFill>
                  <a:srgbClr val="FFFFFF"/>
                </a:solidFill>
              </a:defRPr>
            </a:pPr>
            <a:r>
              <a:t>•  Deep Learning for Cadastral Feature Extraction</a:t>
            </a:r>
          </a:p>
          <a:p>
            <a:pPr>
              <a:spcBef>
                <a:spcPts val="1000"/>
              </a:spcBef>
              <a:defRPr sz="1000">
                <a:solidFill>
                  <a:srgbClr val="FFFFFF"/>
                </a:solidFill>
              </a:defRPr>
            </a:pPr>
            <a:r>
              <a:t>•  Automated Vectorization (Raster to GeoJSON)</a:t>
            </a:r>
          </a:p>
          <a:p>
            <a:pPr>
              <a:spcBef>
                <a:spcPts val="1000"/>
              </a:spcBef>
              <a:defRPr sz="1000">
                <a:solidFill>
                  <a:srgbClr val="FFFFFF"/>
                </a:solidFill>
              </a:defRPr>
            </a:pPr>
            <a:r>
              <a:t>•  Bi-temporal Spatial Change Detection</a:t>
            </a:r>
          </a:p>
          <a:p>
            <a:pPr>
              <a:spcBef>
                <a:spcPts val="1000"/>
              </a:spcBef>
              <a:defRPr sz="1000">
                <a:solidFill>
                  <a:srgbClr val="FFFFFF"/>
                </a:solidFill>
              </a:defRPr>
            </a:pPr>
            <a:r>
              <a:t>•  Geospatial Image Registration &amp; Alignment</a:t>
            </a:r>
          </a:p>
          <a:p>
            <a:pPr>
              <a:spcBef>
                <a:spcPts val="1000"/>
              </a:spcBef>
              <a:defRPr sz="1000">
                <a:solidFill>
                  <a:srgbClr val="FFFFFF"/>
                </a:solidFill>
              </a:defRPr>
            </a:pPr>
            <a:r>
              <a:t>•  PostGIS Spatial Indexing &amp; Database Versioning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371600"/>
            <a:ext cx="3383280" cy="4846320"/>
          </a:xfrm>
          <a:prstGeom prst="roundRect">
            <a:avLst/>
          </a:prstGeom>
          <a:solidFill>
            <a:srgbClr val="15204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TECH STACK &amp; FRAMEWORKS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 AI / ML Models: </a:t>
            </a:r>
            <a:r>
              <a:rPr sz="950">
                <a:solidFill>
                  <a:srgbClr val="A0AEC0"/>
                </a:solidFill>
              </a:rPr>
              <a:t>PyTorch, segmentation_models_pytorch, UNet++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 Geospatial Libraries: </a:t>
            </a:r>
            <a:r>
              <a:rPr sz="950">
                <a:solidFill>
                  <a:srgbClr val="A0AEC0"/>
                </a:solidFill>
              </a:rPr>
              <a:t>GDAL, Rasterio, Shapely, GeoPandas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 Spatial Database: </a:t>
            </a:r>
            <a:r>
              <a:rPr sz="950">
                <a:solidFill>
                  <a:srgbClr val="A0AEC0"/>
                </a:solidFill>
              </a:rPr>
              <a:t>PostgreSQL 15 + PostGIS extension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 Backend Framework: </a:t>
            </a:r>
            <a:r>
              <a:rPr sz="950">
                <a:solidFill>
                  <a:srgbClr val="A0AEC0"/>
                </a:solidFill>
              </a:rPr>
              <a:t>FastAPI (Python async microservice)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 Frontend Web GIS: </a:t>
            </a:r>
            <a:r>
              <a:rPr sz="950">
                <a:solidFill>
                  <a:srgbClr val="A0AEC0"/>
                </a:solidFill>
              </a:rPr>
              <a:t>Leaflet.js / Mapbox GL JS, GeoJSON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FFFFFF"/>
                </a:solidFill>
              </a:rPr>
              <a:t>•  Deployment: </a:t>
            </a:r>
            <a:r>
              <a:rPr sz="950">
                <a:solidFill>
                  <a:srgbClr val="A0AEC0"/>
                </a:solidFill>
              </a:rPr>
              <a:t>Docker microservices, AWS S3 / EC2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